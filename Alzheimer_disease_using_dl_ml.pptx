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533" y="1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94279-0100-480E-8D78-BAFE53D5A5D4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A5485-DF6B-4862-AC30-0323B2659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65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A5485-DF6B-4862-AC30-0323B26590E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814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A5485-DF6B-4862-AC30-0323B26590E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149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9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B11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543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9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B11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9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B11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9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B11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543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9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B11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320" y="5956200"/>
            <a:ext cx="685439" cy="68543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27130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4637" y="6629427"/>
            <a:ext cx="62420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9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B11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6634440"/>
            <a:ext cx="11414760" cy="223520"/>
            <a:chOff x="777240" y="6634440"/>
            <a:chExt cx="11414760" cy="223520"/>
          </a:xfrm>
        </p:grpSpPr>
        <p:sp>
          <p:nvSpPr>
            <p:cNvPr id="3" name="object 3"/>
            <p:cNvSpPr/>
            <p:nvPr/>
          </p:nvSpPr>
          <p:spPr>
            <a:xfrm>
              <a:off x="777240" y="6634440"/>
              <a:ext cx="5781675" cy="220979"/>
            </a:xfrm>
            <a:custGeom>
              <a:avLst/>
              <a:gdLst/>
              <a:ahLst/>
              <a:cxnLst/>
              <a:rect l="l" t="t" r="r" b="b"/>
              <a:pathLst>
                <a:path w="5781675" h="220979">
                  <a:moveTo>
                    <a:pt x="57815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781599" y="0"/>
                  </a:lnTo>
                  <a:lnTo>
                    <a:pt x="5781599" y="22067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59199" y="6634440"/>
              <a:ext cx="5194935" cy="220979"/>
            </a:xfrm>
            <a:custGeom>
              <a:avLst/>
              <a:gdLst/>
              <a:ahLst/>
              <a:cxnLst/>
              <a:rect l="l" t="t" r="r" b="b"/>
              <a:pathLst>
                <a:path w="5194934" h="220979">
                  <a:moveTo>
                    <a:pt x="51947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194799" y="0"/>
                  </a:lnTo>
                  <a:lnTo>
                    <a:pt x="5194799" y="22067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54359" y="6636960"/>
              <a:ext cx="437515" cy="220979"/>
            </a:xfrm>
            <a:custGeom>
              <a:avLst/>
              <a:gdLst/>
              <a:ahLst/>
              <a:cxnLst/>
              <a:rect l="l" t="t" r="r" b="b"/>
              <a:pathLst>
                <a:path w="437515" h="220979">
                  <a:moveTo>
                    <a:pt x="4373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437399" y="0"/>
                  </a:lnTo>
                  <a:lnTo>
                    <a:pt x="437399" y="2206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634440"/>
            <a:ext cx="777240" cy="221615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6879" y="221039"/>
                </a:moveTo>
                <a:lnTo>
                  <a:pt x="0" y="221039"/>
                </a:lnTo>
                <a:lnTo>
                  <a:pt x="0" y="0"/>
                </a:lnTo>
                <a:lnTo>
                  <a:pt x="776879" y="0"/>
                </a:lnTo>
                <a:lnTo>
                  <a:pt x="776879" y="22103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87420" y="1735293"/>
            <a:ext cx="2222223" cy="6849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lang="en-GB" sz="1750" dirty="0">
                <a:latin typeface="Times New Roman"/>
                <a:cs typeface="Times New Roman"/>
              </a:rPr>
              <a:t>D.MAHABOOB BASHA</a:t>
            </a:r>
            <a:endParaRPr sz="1750" dirty="0">
              <a:latin typeface="Times New Roman"/>
              <a:cs typeface="Times New Roman"/>
            </a:endParaRPr>
          </a:p>
          <a:p>
            <a:pPr marL="635" algn="ctr">
              <a:lnSpc>
                <a:spcPts val="1060"/>
              </a:lnSpc>
            </a:pPr>
            <a:r>
              <a:rPr sz="900" dirty="0">
                <a:latin typeface="Times New Roman"/>
                <a:cs typeface="Times New Roman"/>
              </a:rPr>
              <a:t>Roll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No.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lang="en-GB" sz="900" spc="-10" dirty="0">
                <a:latin typeface="Times New Roman"/>
                <a:cs typeface="Times New Roman"/>
              </a:rPr>
              <a:t>2</a:t>
            </a:r>
            <a:r>
              <a:rPr sz="900" spc="-10" dirty="0">
                <a:latin typeface="Times New Roman"/>
                <a:cs typeface="Times New Roman"/>
              </a:rPr>
              <a:t>24G1A05</a:t>
            </a:r>
            <a:r>
              <a:rPr lang="en-GB" sz="900" spc="-10" dirty="0">
                <a:latin typeface="Times New Roman"/>
                <a:cs typeface="Times New Roman"/>
              </a:rPr>
              <a:t>44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2478" y="2476799"/>
            <a:ext cx="3265170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63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Under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guidance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25" dirty="0">
                <a:latin typeface="Times New Roman"/>
                <a:cs typeface="Times New Roman"/>
              </a:rPr>
              <a:t>of</a:t>
            </a:r>
            <a:endParaRPr sz="1400" dirty="0">
              <a:latin typeface="Times New Roman"/>
              <a:cs typeface="Times New Roman"/>
            </a:endParaRPr>
          </a:p>
          <a:p>
            <a:pPr marL="12065" marR="5080" algn="l">
              <a:lnSpc>
                <a:spcPts val="2790"/>
              </a:lnSpc>
              <a:spcBef>
                <a:spcPts val="114"/>
              </a:spcBef>
            </a:pPr>
            <a:r>
              <a:rPr lang="en-GB" sz="2400" dirty="0" err="1">
                <a:latin typeface="Times New Roman"/>
                <a:cs typeface="Times New Roman"/>
              </a:rPr>
              <a:t>Mrs.M.Soumya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lang="en-GB" sz="2400" spc="-10" dirty="0">
                <a:latin typeface="Times New Roman"/>
                <a:cs typeface="Times New Roman"/>
              </a:rPr>
              <a:t> </a:t>
            </a:r>
            <a:r>
              <a:rPr lang="en-GB" sz="2400" spc="-10" dirty="0" err="1">
                <a:latin typeface="Times New Roman"/>
                <a:cs typeface="Times New Roman"/>
              </a:rPr>
              <a:t>M.Tech</a:t>
            </a:r>
            <a:r>
              <a:rPr lang="en-GB" sz="2400" spc="-10" dirty="0">
                <a:latin typeface="Times New Roman"/>
                <a:cs typeface="Times New Roman"/>
              </a:rPr>
              <a:t>,</a:t>
            </a: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GB" sz="2400" spc="-10" dirty="0">
                <a:latin typeface="Times New Roman"/>
                <a:cs typeface="Times New Roman"/>
              </a:rPr>
              <a:t> Associate Professor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6623" y="5096081"/>
            <a:ext cx="7852409" cy="144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ts val="2300"/>
              </a:lnSpc>
              <a:spcBef>
                <a:spcPts val="105"/>
              </a:spcBef>
            </a:pPr>
            <a:r>
              <a:rPr sz="2200" dirty="0">
                <a:latin typeface="Times New Roman"/>
                <a:cs typeface="Times New Roman"/>
              </a:rPr>
              <a:t>Department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Science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Engineering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(AI&amp;ML)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ts val="3565"/>
              </a:lnSpc>
            </a:pP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sz="3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4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3400">
              <a:latin typeface="Times New Roman"/>
              <a:cs typeface="Times New Roman"/>
            </a:endParaRPr>
          </a:p>
          <a:p>
            <a:pPr marL="6350" algn="ctr">
              <a:lnSpc>
                <a:spcPts val="1850"/>
              </a:lnSpc>
            </a:pPr>
            <a:r>
              <a:rPr sz="1750" b="1" spc="-10" dirty="0">
                <a:latin typeface="Times New Roman"/>
                <a:cs typeface="Times New Roman"/>
              </a:rPr>
              <a:t>Autonomous</a:t>
            </a:r>
            <a:endParaRPr sz="1750">
              <a:latin typeface="Times New Roman"/>
              <a:cs typeface="Times New Roman"/>
            </a:endParaRPr>
          </a:p>
          <a:p>
            <a:pPr marL="7620" algn="ctr">
              <a:lnSpc>
                <a:spcPts val="1370"/>
              </a:lnSpc>
            </a:pPr>
            <a:r>
              <a:rPr sz="1200" b="1" dirty="0">
                <a:latin typeface="Times New Roman"/>
                <a:cs typeface="Times New Roman"/>
              </a:rPr>
              <a:t>Rotarypuram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Village,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Samudram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Mandal,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Ananthapuramu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515701.</a:t>
            </a:r>
            <a:endParaRPr sz="120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2024-</a:t>
            </a:r>
            <a:r>
              <a:rPr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2025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0400" y="1744345"/>
            <a:ext cx="2113915" cy="4654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115"/>
              </a:spcBef>
            </a:pPr>
            <a:r>
              <a:rPr lang="en-IN" sz="2000" spc="-50" dirty="0">
                <a:latin typeface="Times New Roman"/>
                <a:cs typeface="Times New Roman"/>
              </a:rPr>
              <a:t>S.SARFARAZ</a:t>
            </a:r>
          </a:p>
          <a:p>
            <a:pPr marL="1270" algn="ctr">
              <a:lnSpc>
                <a:spcPts val="1060"/>
              </a:lnSpc>
            </a:pPr>
            <a:r>
              <a:rPr lang="en-IN" sz="900" dirty="0">
                <a:latin typeface="Times New Roman"/>
                <a:cs typeface="Times New Roman"/>
              </a:rPr>
              <a:t>Roll</a:t>
            </a:r>
            <a:r>
              <a:rPr lang="en-IN" sz="900" spc="40" dirty="0">
                <a:latin typeface="Times New Roman"/>
                <a:cs typeface="Times New Roman"/>
              </a:rPr>
              <a:t> </a:t>
            </a:r>
            <a:r>
              <a:rPr lang="en-IN" sz="900" dirty="0">
                <a:latin typeface="Times New Roman"/>
                <a:cs typeface="Times New Roman"/>
              </a:rPr>
              <a:t>No.</a:t>
            </a:r>
            <a:r>
              <a:rPr lang="en-IN" sz="900" spc="40" dirty="0">
                <a:latin typeface="Times New Roman"/>
                <a:cs typeface="Times New Roman"/>
              </a:rPr>
              <a:t> </a:t>
            </a:r>
            <a:r>
              <a:rPr lang="en-IN" sz="900" spc="-10" dirty="0">
                <a:latin typeface="Times New Roman"/>
                <a:cs typeface="Times New Roman"/>
              </a:rPr>
              <a:t>224G1A0595</a:t>
            </a:r>
            <a:endParaRPr lang="en-IN" sz="9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86574" y="1735293"/>
            <a:ext cx="1844675" cy="424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lang="en-GB" sz="1750" dirty="0">
                <a:latin typeface="Times New Roman"/>
                <a:cs typeface="Times New Roman"/>
              </a:rPr>
              <a:t>P.GOWTAMI</a:t>
            </a:r>
            <a:endParaRPr sz="1750" dirty="0">
              <a:latin typeface="Times New Roman"/>
              <a:cs typeface="Times New Roman"/>
            </a:endParaRPr>
          </a:p>
          <a:p>
            <a:pPr marL="635" algn="ctr">
              <a:lnSpc>
                <a:spcPts val="1060"/>
              </a:lnSpc>
            </a:pPr>
            <a:r>
              <a:rPr sz="900" dirty="0">
                <a:latin typeface="Times New Roman"/>
                <a:cs typeface="Times New Roman"/>
              </a:rPr>
              <a:t>Roll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No.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lang="en-GB" sz="900" spc="-10" dirty="0">
                <a:latin typeface="Times New Roman"/>
                <a:cs typeface="Times New Roman"/>
              </a:rPr>
              <a:t>22</a:t>
            </a:r>
            <a:r>
              <a:rPr sz="900" spc="-10" dirty="0">
                <a:latin typeface="Times New Roman"/>
                <a:cs typeface="Times New Roman"/>
              </a:rPr>
              <a:t>4G1A05</a:t>
            </a:r>
            <a:r>
              <a:rPr lang="en-GB" sz="900" spc="-10" dirty="0">
                <a:latin typeface="Times New Roman"/>
                <a:cs typeface="Times New Roman"/>
              </a:rPr>
              <a:t>22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5009" y="318270"/>
            <a:ext cx="10608310" cy="1119311"/>
            <a:chOff x="715009" y="318271"/>
            <a:chExt cx="10608310" cy="937894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09" y="318271"/>
              <a:ext cx="10608182" cy="9378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5008" y="335270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433627" y="349356"/>
            <a:ext cx="9904163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chemeClr val="tx1"/>
                </a:solidFill>
              </a:rPr>
              <a:t>Integrating MRI and genetic Data For Flexible Alzheimer’s Disease Diagnosis</a:t>
            </a:r>
            <a:endParaRPr sz="3200" dirty="0"/>
          </a:p>
        </p:txBody>
      </p:sp>
      <p:sp>
        <p:nvSpPr>
          <p:cNvPr id="18" name="object 18"/>
          <p:cNvSpPr txBox="1"/>
          <p:nvPr/>
        </p:nvSpPr>
        <p:spPr>
          <a:xfrm>
            <a:off x="5987420" y="1278968"/>
            <a:ext cx="217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/>
                <a:cs typeface="Times New Roman"/>
              </a:rPr>
              <a:t>by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2301" y="3477045"/>
            <a:ext cx="1527378" cy="168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4600" y="-1"/>
            <a:ext cx="6400799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Integrating MRI and Genetic Data for Flexible Alzheimer’s Disease</a:t>
            </a:r>
            <a:endParaRPr sz="1500" b="1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54637" y="6629197"/>
            <a:ext cx="85366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9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B11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8" y="6645601"/>
            <a:ext cx="4017251" cy="234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62799" y="6661283"/>
            <a:ext cx="4017251" cy="234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25787" y="989990"/>
            <a:ext cx="9425305" cy="46253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Title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Justification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Abstract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statement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Objectives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Project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Literature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survey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objectives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Work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(Methods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system)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References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GitHub </a:t>
            </a:r>
            <a:r>
              <a:rPr sz="2800" spc="-20" dirty="0">
                <a:latin typeface="Times New Roman"/>
                <a:cs typeface="Times New Roman"/>
              </a:rPr>
              <a:t>Link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Queries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286000" y="8759"/>
            <a:ext cx="6705599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500" b="1">
                <a:solidFill>
                  <a:srgbClr val="FFFFFF"/>
                </a:solidFill>
                <a:latin typeface="Times New Roman"/>
                <a:cs typeface="Times New Roman"/>
              </a:rPr>
              <a:t>Integrating MRI and Genetic Data for Flexible Alzheimer’s Disease</a:t>
            </a:r>
            <a:endParaRPr lang="en-GB" sz="1500" b="1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Title</a:t>
            </a:r>
            <a:r>
              <a:rPr spc="-24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Justification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54637" y="6629197"/>
            <a:ext cx="75976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5" dirty="0"/>
              <a:t> </a:t>
            </a:r>
            <a:r>
              <a:rPr lang="en-IN" spc="-25" dirty="0"/>
              <a:t>B11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066800" y="6675677"/>
            <a:ext cx="386905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58544" y="6629197"/>
            <a:ext cx="427145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21E5A-6101-34E9-FBB6-645521DB8C4B}"/>
              </a:ext>
            </a:extLst>
          </p:cNvPr>
          <p:cNvSpPr txBox="1"/>
          <p:nvPr/>
        </p:nvSpPr>
        <p:spPr>
          <a:xfrm>
            <a:off x="304800" y="1219200"/>
            <a:ext cx="11125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"Integrating MRI and Genetic Data" (Multimodality):</a:t>
            </a:r>
            <a:r>
              <a:rPr lang="en-GB" sz="2000" dirty="0"/>
              <a:t> Standard diagnostic tools often rely on a single source of data. By integrating </a:t>
            </a:r>
            <a:r>
              <a:rPr lang="en-GB" sz="2000" b="1" dirty="0"/>
              <a:t>MRI scans</a:t>
            </a:r>
            <a:r>
              <a:rPr lang="en-GB" sz="2000" dirty="0"/>
              <a:t> (providing spatial and structural information about brain atrophy) with </a:t>
            </a:r>
            <a:r>
              <a:rPr lang="en-GB" sz="2000" b="1" dirty="0"/>
              <a:t>Genetic Data</a:t>
            </a:r>
            <a:r>
              <a:rPr lang="en-GB" sz="2000" dirty="0"/>
              <a:t> (providing biological markers), the framework creates a more comprehensive and accurate diagnostic picture than unimodal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"Flexible... Diagnosis" (Operational Versatility):</a:t>
            </a:r>
            <a:r>
              <a:rPr lang="en-GB" sz="2000" dirty="0"/>
              <a:t> The term "flexible" refers to the system’s ability to operate in diverse clinical environments. Through a </a:t>
            </a:r>
            <a:r>
              <a:rPr lang="en-GB" sz="2000" b="1" dirty="0"/>
              <a:t>unified fusion module</a:t>
            </a:r>
            <a:r>
              <a:rPr lang="en-GB" sz="2000" dirty="0"/>
              <a:t>, the framework can provide a diagnosis even when data is incomplete—such as in rural clinics that may have access to clinical biomarkers but lack expensive MRI machinery.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"Alzheimer’s Disease Diagnosis" (Clinical Impact):</a:t>
            </a:r>
            <a:r>
              <a:rPr lang="en-GB" sz="2000" dirty="0"/>
              <a:t> The title highlights the specific medical goal: solving the problem of high-cost, high-barrier diagnostic approaches. The integration of multiple data streams aims to balance </a:t>
            </a:r>
            <a:r>
              <a:rPr lang="en-GB" sz="2000" b="1" dirty="0"/>
              <a:t>accuracy, cost-efficiency, and healthcare accessibility</a:t>
            </a:r>
            <a:r>
              <a:rPr lang="en-GB" sz="20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5200" y="0"/>
            <a:ext cx="5867399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Integrating MRI and Genetic Data for Flexible Alzheimer’s Disease</a:t>
            </a:r>
            <a:endParaRPr lang="en-GB" sz="1500" b="1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80932" y="209958"/>
            <a:ext cx="12280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000000"/>
                </a:solidFill>
              </a:rPr>
              <a:t>Abstract</a:t>
            </a:r>
            <a:endParaRPr sz="28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54637" y="6641280"/>
            <a:ext cx="85366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B11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8" y="6641280"/>
            <a:ext cx="3869053" cy="239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58544" y="6649190"/>
            <a:ext cx="419525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87374" y="1163207"/>
            <a:ext cx="11614735" cy="38901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Alzheimer’s Disease (AD) is a progressive neurodegenerative disorder where </a:t>
            </a:r>
            <a:r>
              <a:rPr lang="en-GB" b="1" dirty="0"/>
              <a:t>early and accurate diagnosis</a:t>
            </a:r>
            <a:r>
              <a:rPr lang="en-GB" dirty="0"/>
              <a:t> is crucial for effective treatment and patient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Traditional diagnostic systems rely on </a:t>
            </a:r>
            <a:r>
              <a:rPr lang="en-GB" b="1" dirty="0"/>
              <a:t>unimodal approaches</a:t>
            </a:r>
            <a:r>
              <a:rPr lang="en-GB" dirty="0"/>
              <a:t>, using either MRI-based deep learning models or structured clinical/genetic data, which limits accuracy and accessibility.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project proposes a </a:t>
            </a:r>
            <a:r>
              <a:rPr lang="en-IN" b="1" dirty="0"/>
              <a:t>Multimodal Diagnostic Framework</a:t>
            </a:r>
            <a:r>
              <a:rPr lang="en-IN" dirty="0"/>
              <a:t> that integrates </a:t>
            </a:r>
            <a:r>
              <a:rPr lang="en-IN" b="1" dirty="0"/>
              <a:t>MRI imaging data</a:t>
            </a:r>
            <a:r>
              <a:rPr lang="en-IN" dirty="0"/>
              <a:t> with </a:t>
            </a:r>
            <a:r>
              <a:rPr lang="en-IN" b="1" dirty="0"/>
              <a:t>genetic and clinical biomarkers</a:t>
            </a:r>
            <a:r>
              <a:rPr lang="en-IN" dirty="0"/>
              <a:t> to achieve a more comprehensive Alzheimer’s diagnosis.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unified fusion module</a:t>
            </a:r>
            <a:r>
              <a:rPr lang="en-GB" dirty="0"/>
              <a:t> combines imaging and non-imaging features, enabling the system to provide predictions even when </a:t>
            </a:r>
            <a:r>
              <a:rPr lang="en-GB" b="1" dirty="0"/>
              <a:t>partial data</a:t>
            </a:r>
            <a:r>
              <a:rPr lang="en-GB" dirty="0"/>
              <a:t> (only MRI or only clinical data) is available.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proposed framework improves </a:t>
            </a:r>
            <a:r>
              <a:rPr lang="en-GB" b="1" dirty="0"/>
              <a:t>diagnostic accuracy, cost-efficiency, and healthcare accessibility</a:t>
            </a:r>
            <a:r>
              <a:rPr lang="en-GB" dirty="0"/>
              <a:t>, especially in resource-limited clinical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4200" y="0"/>
            <a:ext cx="5562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Integrating MRI and Genetic Data for Flexible Alzheimer’s Disease</a:t>
            </a:r>
            <a:endParaRPr lang="en-GB" sz="1500" b="1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54637" y="6629427"/>
            <a:ext cx="75976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B11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8" y="6625080"/>
            <a:ext cx="386905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58544" y="6649190"/>
            <a:ext cx="419525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36899" y="1074318"/>
            <a:ext cx="11327130" cy="39395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GB" dirty="0"/>
              <a:t>Alzheimer’s Disease (AD) is a progressive neurodegenerative disorder where early diagnosis is essential for effective patient intervention.</a:t>
            </a:r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GB" b="1" dirty="0"/>
              <a:t>Proposed Innovation:</a:t>
            </a:r>
            <a:r>
              <a:rPr lang="en-GB" dirty="0"/>
              <a:t> This project introduces a Multimodal Diagnostic Framework that synergizes high-resolution features from MRI scans with the predictive power of genetic and clinical biomarkers.</a:t>
            </a:r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endParaRPr lang="en-US" dirty="0"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GB" b="1" dirty="0"/>
              <a:t>Insufficiency of Unimodal Clinical Models:</a:t>
            </a:r>
            <a:r>
              <a:rPr lang="en-GB" dirty="0"/>
              <a:t> Machine learning models trained exclusively on structured data often fail to capture the complex structural changes in the brain, leading to lower predictive precision.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5600" y="0"/>
            <a:ext cx="6476999" cy="243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Integrating MRI and Genetic Data for Flexible Alzheimer’s Disease</a:t>
            </a:r>
            <a:endParaRPr lang="en-GB" sz="1500" b="1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5790" algn="l"/>
              </a:tabLst>
            </a:pPr>
            <a:r>
              <a:rPr dirty="0"/>
              <a:t>Objectives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Project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54637" y="6629427"/>
            <a:ext cx="75976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B11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8" y="6625080"/>
            <a:ext cx="386905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58544" y="6641280"/>
            <a:ext cx="411905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40690" y="1601955"/>
            <a:ext cx="11588115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Implement a Multimodal Diagnostic Framework:</a:t>
            </a:r>
            <a:r>
              <a:rPr lang="en-IN" sz="2400" dirty="0"/>
              <a:t> To develop a system that synergizes high-resolution MRI features with genetic and clinical biomarkers for a more comprehensive Alzheimer's diagnosis.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Optimize Classification for Structured Clinical Data:</a:t>
            </a:r>
            <a:r>
              <a:rPr lang="en-GB" sz="2400" dirty="0"/>
              <a:t> To apply traditional Machine Learning classifiers—including Random Forest, SVM, and Logistic Regression—to effectively </a:t>
            </a:r>
            <a:r>
              <a:rPr lang="en-GB" sz="2400" dirty="0" err="1"/>
              <a:t>analyze</a:t>
            </a:r>
            <a:r>
              <a:rPr lang="en-GB" sz="2400" dirty="0"/>
              <a:t> genetic risk factors.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Bridge the Gap in Healthcare Accessibility:</a:t>
            </a:r>
            <a:r>
              <a:rPr lang="en-GB" sz="2400" dirty="0"/>
              <a:t> To optimize the trade-off between diagnostic accuracy and cost-efficiency, making early Alzheimer’s detection more accessible in diverse clinical settings.</a:t>
            </a:r>
            <a:endParaRPr lang="en-IN" sz="2400" dirty="0"/>
          </a:p>
          <a:p>
            <a:endParaRPr lang="en-GB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71800" y="-20341"/>
            <a:ext cx="6324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Integrating MRI and Genetic Data for Flexible Alzheimer’s Disease</a:t>
            </a:r>
            <a:endParaRPr lang="en-GB" sz="1500" b="1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025" y="209958"/>
            <a:ext cx="4495165" cy="9002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Literature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survey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objectives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lang="en-IN"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54637" y="6629427"/>
            <a:ext cx="75976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B11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773948" y="6625080"/>
            <a:ext cx="39410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58544" y="6629197"/>
            <a:ext cx="411905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BB50CA0-F204-5795-DB85-C151154FC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973439"/>
              </p:ext>
            </p:extLst>
          </p:nvPr>
        </p:nvGraphicFramePr>
        <p:xfrm>
          <a:off x="1219200" y="1860550"/>
          <a:ext cx="9477378" cy="3136900"/>
        </p:xfrm>
        <a:graphic>
          <a:graphicData uri="http://schemas.openxmlformats.org/drawingml/2006/table">
            <a:tbl>
              <a:tblPr/>
              <a:tblGrid>
                <a:gridCol w="3159126">
                  <a:extLst>
                    <a:ext uri="{9D8B030D-6E8A-4147-A177-3AD203B41FA5}">
                      <a16:colId xmlns:a16="http://schemas.microsoft.com/office/drawing/2014/main" val="879424966"/>
                    </a:ext>
                  </a:extLst>
                </a:gridCol>
                <a:gridCol w="3159126">
                  <a:extLst>
                    <a:ext uri="{9D8B030D-6E8A-4147-A177-3AD203B41FA5}">
                      <a16:colId xmlns:a16="http://schemas.microsoft.com/office/drawing/2014/main" val="4021542208"/>
                    </a:ext>
                  </a:extLst>
                </a:gridCol>
                <a:gridCol w="3159126">
                  <a:extLst>
                    <a:ext uri="{9D8B030D-6E8A-4147-A177-3AD203B41FA5}">
                      <a16:colId xmlns:a16="http://schemas.microsoft.com/office/drawing/2014/main" val="1542562989"/>
                    </a:ext>
                  </a:extLst>
                </a:gridCol>
              </a:tblGrid>
              <a:tr h="3060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510" marR="76510" marT="38255" marB="3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6510" marR="76510" marT="38255" marB="3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6510" marR="76510" marT="38255" marB="3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050649"/>
                  </a:ext>
                </a:extLst>
              </a:tr>
              <a:tr h="28308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76510" marR="76510" marT="38255" marB="3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510" marR="76510" marT="38255" marB="3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76510" marR="76510" marT="38255" marB="3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6925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74DE045-8C0A-46CC-8C6D-21B611792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921182"/>
              </p:ext>
            </p:extLst>
          </p:nvPr>
        </p:nvGraphicFramePr>
        <p:xfrm>
          <a:off x="73025" y="1254939"/>
          <a:ext cx="11868175" cy="5388251"/>
        </p:xfrm>
        <a:graphic>
          <a:graphicData uri="http://schemas.openxmlformats.org/drawingml/2006/table">
            <a:tbl>
              <a:tblPr/>
              <a:tblGrid>
                <a:gridCol w="1979930">
                  <a:extLst>
                    <a:ext uri="{9D8B030D-6E8A-4147-A177-3AD203B41FA5}">
                      <a16:colId xmlns:a16="http://schemas.microsoft.com/office/drawing/2014/main" val="110242623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041813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834565533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1579433708"/>
                    </a:ext>
                  </a:extLst>
                </a:gridCol>
                <a:gridCol w="2573045">
                  <a:extLst>
                    <a:ext uri="{9D8B030D-6E8A-4147-A177-3AD203B41FA5}">
                      <a16:colId xmlns:a16="http://schemas.microsoft.com/office/drawing/2014/main" val="840557757"/>
                    </a:ext>
                  </a:extLst>
                </a:gridCol>
              </a:tblGrid>
              <a:tr h="118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Author(s) / Source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Objective Linked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Main 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Research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228845"/>
                  </a:ext>
                </a:extLst>
              </a:tr>
              <a:tr h="4040050">
                <a:tc>
                  <a:txBody>
                    <a:bodyPr/>
                    <a:lstStyle/>
                    <a:p>
                      <a:r>
                        <a:rPr lang="en-IN" dirty="0"/>
                        <a:t>Kumar et al. / NIH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Din, F.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 err="1"/>
                        <a:t>Nagarhalli</a:t>
                      </a:r>
                      <a:r>
                        <a:rPr lang="en-IN" dirty="0"/>
                        <a:t> et al.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Nghiem et al.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2025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2024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Objective 1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Objective2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Objective3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Objective4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Developed </a:t>
                      </a:r>
                      <a:r>
                        <a:rPr lang="en-GB" b="1" dirty="0" err="1"/>
                        <a:t>FusionNet</a:t>
                      </a:r>
                      <a:r>
                        <a:rPr lang="en-GB" dirty="0"/>
                        <a:t>, achieving 94% accuracy by synthesizing MRI, PET, and CT scans using GANs.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Comparative analysis of </a:t>
                      </a:r>
                      <a:r>
                        <a:rPr lang="en-GB" b="1" dirty="0"/>
                        <a:t>ML algorithms</a:t>
                      </a:r>
                      <a:r>
                        <a:rPr lang="en-GB" dirty="0"/>
                        <a:t> for classification.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r>
                        <a:rPr lang="en-IN" b="1" dirty="0"/>
                        <a:t>Multimodal framework</a:t>
                      </a:r>
                      <a:r>
                        <a:rPr lang="en-IN" dirty="0"/>
                        <a:t> using </a:t>
                      </a:r>
                      <a:r>
                        <a:rPr lang="en-IN" b="1" dirty="0"/>
                        <a:t>CNN</a:t>
                      </a:r>
                      <a:r>
                        <a:rPr lang="en-IN" dirty="0"/>
                        <a:t> (MRI) + </a:t>
                      </a:r>
                      <a:r>
                        <a:rPr lang="en-IN" b="1" dirty="0"/>
                        <a:t>LSTM</a:t>
                      </a:r>
                      <a:r>
                        <a:rPr lang="en-IN" dirty="0"/>
                        <a:t> (Cognitive).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GB" dirty="0"/>
                        <a:t>Prediction using </a:t>
                      </a:r>
                      <a:r>
                        <a:rPr lang="en-GB" b="1" dirty="0"/>
                        <a:t>ML + socio-admin data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Lacks </a:t>
                      </a:r>
                      <a:r>
                        <a:rPr lang="en-GB" b="1" dirty="0"/>
                        <a:t>AD-specific risk </a:t>
                      </a:r>
                      <a:r>
                        <a:rPr lang="en-GB" b="1" dirty="0" err="1"/>
                        <a:t>modeling</a:t>
                      </a:r>
                      <a:r>
                        <a:rPr lang="en-GB" dirty="0"/>
                        <a:t> and image integration.</a:t>
                      </a:r>
                    </a:p>
                    <a:p>
                      <a:r>
                        <a:rPr lang="en-IN" b="1" dirty="0"/>
                        <a:t>Imbalanced datasets</a:t>
                      </a:r>
                      <a:r>
                        <a:rPr lang="en-IN" dirty="0"/>
                        <a:t>; minimal validation on medical imagery.</a:t>
                      </a:r>
                    </a:p>
                    <a:p>
                      <a:endParaRPr lang="en-IN" dirty="0"/>
                    </a:p>
                    <a:p>
                      <a:r>
                        <a:rPr lang="en-GB" dirty="0"/>
                        <a:t>High reliance on </a:t>
                      </a:r>
                      <a:r>
                        <a:rPr lang="en-GB" b="1" dirty="0"/>
                        <a:t>sequential data</a:t>
                      </a:r>
                      <a:r>
                        <a:rPr lang="en-GB" dirty="0"/>
                        <a:t>; lacks genetic biomarker fusion.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Not </a:t>
                      </a:r>
                      <a:r>
                        <a:rPr lang="en-GB" b="1" dirty="0"/>
                        <a:t>generalized</a:t>
                      </a:r>
                      <a:r>
                        <a:rPr lang="en-GB" dirty="0"/>
                        <a:t> for complex neuroimaging tasks.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9292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31C6B-4DD5-2D0E-12A3-5E6E508F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E944C5-E875-BFB1-8DF5-41581AB31751}"/>
              </a:ext>
            </a:extLst>
          </p:cNvPr>
          <p:cNvSpPr txBox="1"/>
          <p:nvPr/>
        </p:nvSpPr>
        <p:spPr>
          <a:xfrm>
            <a:off x="3352800" y="0"/>
            <a:ext cx="57150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Integrating MRI and Genetic Data for Flexible Alzheimer’s Disease</a:t>
            </a:r>
            <a:endParaRPr lang="en-GB" sz="1500" b="1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315E484-D6BC-60D3-8631-0EB43F2754E3}"/>
              </a:ext>
            </a:extLst>
          </p:cNvPr>
          <p:cNvSpPr txBox="1"/>
          <p:nvPr/>
        </p:nvSpPr>
        <p:spPr>
          <a:xfrm>
            <a:off x="236899" y="1002318"/>
            <a:ext cx="11556346" cy="449353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Multimodal :</a:t>
            </a:r>
            <a:r>
              <a:rPr lang="en-IN" dirty="0"/>
              <a:t> Unlike standard unimodal systems, your framework integrates </a:t>
            </a:r>
            <a:r>
              <a:rPr lang="en-IN" b="1" dirty="0"/>
              <a:t>high-resolution structural data</a:t>
            </a:r>
            <a:r>
              <a:rPr lang="en-IN" dirty="0"/>
              <a:t> (MRI) with </a:t>
            </a:r>
            <a:r>
              <a:rPr lang="en-IN" b="1" dirty="0"/>
              <a:t>molecular-level biological markers</a:t>
            </a:r>
            <a:r>
              <a:rPr lang="en-IN" dirty="0"/>
              <a:t> (Genetics) to capture a complete disease profile.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Deep Learning (Imaging) Pipeline:</a:t>
            </a:r>
            <a:r>
              <a:rPr lang="en-IN" dirty="0"/>
              <a:t> Utilizes a suite of pre-trained </a:t>
            </a:r>
            <a:r>
              <a:rPr lang="en-IN" b="1" dirty="0"/>
              <a:t>Convolutional Neural Networks (CNNs)</a:t>
            </a:r>
            <a:r>
              <a:rPr lang="en-IN" dirty="0"/>
              <a:t>—</a:t>
            </a:r>
            <a:r>
              <a:rPr lang="en-IN" b="1" dirty="0"/>
              <a:t>InceptionV3, VGG16, and ResNet50</a:t>
            </a:r>
            <a:r>
              <a:rPr lang="en-IN" dirty="0"/>
              <a:t>—to automatically identify hierarchical patterns of brain 	atrophy without manual feature engineering.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Advanced Image Processing:</a:t>
            </a:r>
            <a:r>
              <a:rPr lang="en-GB" dirty="0"/>
              <a:t> The system employs </a:t>
            </a:r>
            <a:r>
              <a:rPr lang="en-GB" b="1" dirty="0"/>
              <a:t>data augmentation</a:t>
            </a:r>
            <a:r>
              <a:rPr lang="en-GB" dirty="0"/>
              <a:t> (horizontal/vertical flips, rotations) to resolve dataset imbalances and improve the model's ability to generalize across different scanner types.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Data Augmentation for Robustness:</a:t>
            </a:r>
            <a:r>
              <a:rPr lang="en-GB" dirty="0"/>
              <a:t> To prevent overfitting on limited medical datasets, the system applies random </a:t>
            </a:r>
            <a:r>
              <a:rPr lang="en-GB" b="1" dirty="0"/>
              <a:t>rotations and horizontal/vertical flips</a:t>
            </a:r>
            <a:r>
              <a:rPr lang="en-GB" dirty="0"/>
              <a:t> to MRI slices, artificially expanding the training data.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95E2DCF9-AABD-DDA3-D171-B1C9D413ED2A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4E23D09-0137-8C5B-B077-D98D29C6095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B1D97D5-F2AE-959B-0855-81DF5861DF7F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D23D5CD6-3D0E-7A78-C549-AE2EC12944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38881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spc="-10" dirty="0"/>
              <a:t>Proposed</a:t>
            </a:r>
            <a:r>
              <a:rPr dirty="0"/>
              <a:t>	</a:t>
            </a:r>
            <a:r>
              <a:rPr spc="-10" dirty="0"/>
              <a:t>System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E9F603A-1265-90C2-3569-538ED8C02BA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54637" y="6629427"/>
            <a:ext cx="85366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pc="-5" dirty="0"/>
              <a:t> </a:t>
            </a:r>
            <a:r>
              <a:rPr lang="en-IN" spc="-25" dirty="0"/>
              <a:t>B11</a:t>
            </a:r>
            <a:endParaRPr spc="-25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A63F66C-57E9-DAB7-D9E7-30E1886A765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30535" y="6649190"/>
            <a:ext cx="386905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lang="en-GB" cap="small" spc="-130" dirty="0"/>
              <a:t> </a:t>
            </a:r>
            <a:r>
              <a:rPr cap="small" spc="-130" dirty="0"/>
              <a:t>Engineering</a:t>
            </a:r>
            <a:r>
              <a:rPr lang="en-GB" cap="small" spc="-130" dirty="0"/>
              <a:t> </a:t>
            </a:r>
            <a:endParaRPr cap="small" spc="-13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82B3F01-4510-E5C9-61B8-EDB7FF713287}"/>
              </a:ext>
            </a:extLst>
          </p:cNvPr>
          <p:cNvSpPr txBox="1"/>
          <p:nvPr/>
        </p:nvSpPr>
        <p:spPr>
          <a:xfrm>
            <a:off x="6629400" y="6629197"/>
            <a:ext cx="403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lang="en-GB"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276B68C-4BDC-1144-72D5-935CBC5B9F7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680304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71800" y="0"/>
            <a:ext cx="6019799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Integrating MRI and Genetic Data for Flexible Alzheimer’s Disease</a:t>
            </a:r>
            <a:endParaRPr lang="en-GB" sz="1500" b="1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54637" y="6629427"/>
            <a:ext cx="75976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B11</a:t>
            </a:r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1143000" y="6629558"/>
            <a:ext cx="366141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lang="en-GB" cap="small" spc="-130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29400" y="6629197"/>
            <a:ext cx="386905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lang="en-GB"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72465" y="1074318"/>
            <a:ext cx="11630025" cy="493846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90550" marR="5080" indent="-577850">
              <a:lnSpc>
                <a:spcPts val="3020"/>
              </a:lnSpc>
              <a:spcBef>
                <a:spcPts val="480"/>
              </a:spcBef>
              <a:tabLst>
                <a:tab pos="3065145" algn="l"/>
                <a:tab pos="3639820" algn="l"/>
                <a:tab pos="4260215" algn="l"/>
                <a:tab pos="4356100" algn="l"/>
                <a:tab pos="5892165" algn="l"/>
                <a:tab pos="6190615" algn="l"/>
                <a:tab pos="7215505" algn="l"/>
                <a:tab pos="7720965" algn="l"/>
                <a:tab pos="7972425" algn="l"/>
                <a:tab pos="8364220" algn="l"/>
                <a:tab pos="9324975" algn="l"/>
              </a:tabLst>
            </a:pPr>
            <a:r>
              <a:rPr lang="en-IN" sz="1200" spc="-10" dirty="0">
                <a:latin typeface="Times New Roman"/>
                <a:cs typeface="Times New Roman"/>
              </a:rPr>
              <a:t>[1].</a:t>
            </a:r>
            <a:r>
              <a:rPr lang="en-IN" sz="1200" dirty="0"/>
              <a:t> </a:t>
            </a:r>
            <a:r>
              <a:rPr lang="en-IN" sz="1200" dirty="0" err="1"/>
              <a:t>Givian</a:t>
            </a:r>
            <a:r>
              <a:rPr lang="en-IN" sz="1200" dirty="0"/>
              <a:t>, H. &amp; </a:t>
            </a:r>
            <a:r>
              <a:rPr lang="en-IN" sz="1200" dirty="0" err="1"/>
              <a:t>Calbimonte</a:t>
            </a:r>
            <a:r>
              <a:rPr lang="en-IN" sz="1200" dirty="0"/>
              <a:t>, J. P. "A Review on Machine Learning Approaches for Diagnosis of Alzheimer’s Disease and Mild Cognitive Impairment Based on Brain MRI," </a:t>
            </a:r>
            <a:r>
              <a:rPr lang="en-IN" sz="1200" i="1" dirty="0"/>
              <a:t>IEEE Access</a:t>
            </a:r>
            <a:r>
              <a:rPr lang="en-IN" sz="1200" dirty="0"/>
              <a:t>, vol. 12, pp. 1543–1560 (2024). DOI: 10.1109/ACCESS.2024.3438081.</a:t>
            </a:r>
          </a:p>
          <a:p>
            <a:pPr marL="590550" marR="5080" indent="-577850">
              <a:lnSpc>
                <a:spcPts val="3020"/>
              </a:lnSpc>
              <a:spcBef>
                <a:spcPts val="480"/>
              </a:spcBef>
              <a:tabLst>
                <a:tab pos="3065145" algn="l"/>
                <a:tab pos="3639820" algn="l"/>
                <a:tab pos="4260215" algn="l"/>
                <a:tab pos="4356100" algn="l"/>
                <a:tab pos="5892165" algn="l"/>
                <a:tab pos="6190615" algn="l"/>
                <a:tab pos="7215505" algn="l"/>
                <a:tab pos="7720965" algn="l"/>
                <a:tab pos="7972425" algn="l"/>
                <a:tab pos="8364220" algn="l"/>
                <a:tab pos="9324975" algn="l"/>
              </a:tabLst>
            </a:pPr>
            <a:r>
              <a:rPr lang="en-IN" sz="1200" dirty="0">
                <a:latin typeface="Times New Roman"/>
                <a:cs typeface="Times New Roman"/>
              </a:rPr>
              <a:t>[2</a:t>
            </a:r>
            <a:r>
              <a:rPr lang="en-IN" sz="1200" dirty="0"/>
              <a:t>AlSaeed, D. &amp; Omar, S. F. "Brain MRI Analysis for Alzheimer’s Disease Diagnosis Using CNN Based Feature Extraction and Machine Learning," </a:t>
            </a:r>
            <a:r>
              <a:rPr lang="en-IN" sz="1200" i="1" dirty="0"/>
              <a:t>Sensors</a:t>
            </a:r>
            <a:r>
              <a:rPr lang="en-IN" sz="1200" dirty="0"/>
              <a:t>, vol. 22, no. 8, p. 2911 (2022). </a:t>
            </a:r>
          </a:p>
          <a:p>
            <a:pPr marL="590550" marR="5080" indent="-577850">
              <a:lnSpc>
                <a:spcPts val="3020"/>
              </a:lnSpc>
              <a:spcBef>
                <a:spcPts val="480"/>
              </a:spcBef>
              <a:tabLst>
                <a:tab pos="3065145" algn="l"/>
                <a:tab pos="3639820" algn="l"/>
                <a:tab pos="4260215" algn="l"/>
                <a:tab pos="4356100" algn="l"/>
                <a:tab pos="5892165" algn="l"/>
                <a:tab pos="6190615" algn="l"/>
                <a:tab pos="7215505" algn="l"/>
                <a:tab pos="7720965" algn="l"/>
                <a:tab pos="7972425" algn="l"/>
                <a:tab pos="8364220" algn="l"/>
                <a:tab pos="9324975" algn="l"/>
              </a:tabLst>
            </a:pPr>
            <a:r>
              <a:rPr lang="en-IN" sz="1200" dirty="0">
                <a:latin typeface="Times New Roman"/>
                <a:cs typeface="Times New Roman"/>
              </a:rPr>
              <a:t>[3]</a:t>
            </a:r>
            <a:r>
              <a:rPr lang="en-US" sz="1200" dirty="0"/>
              <a:t> </a:t>
            </a:r>
            <a:r>
              <a:rPr lang="en-IN" sz="1200" dirty="0"/>
              <a:t>Liu, M., Zhang, J., Adeli, E. &amp; Shen, D. "A Multi-Modality Deep Learning Approach for Alzheimer’s Disease Diagnosis," </a:t>
            </a:r>
            <a:r>
              <a:rPr lang="en-IN" sz="1200" i="1" dirty="0"/>
              <a:t>Neuroinformatics</a:t>
            </a:r>
            <a:r>
              <a:rPr lang="en-IN" sz="1200" dirty="0"/>
              <a:t>, vol. 18, no. 3, pp. 325–342 (2020).</a:t>
            </a:r>
            <a:endParaRPr lang="en-US" sz="1200" dirty="0"/>
          </a:p>
          <a:p>
            <a:pPr marL="590550" marR="5080" indent="-577850">
              <a:lnSpc>
                <a:spcPts val="3020"/>
              </a:lnSpc>
              <a:spcBef>
                <a:spcPts val="480"/>
              </a:spcBef>
              <a:tabLst>
                <a:tab pos="3065145" algn="l"/>
                <a:tab pos="3639820" algn="l"/>
                <a:tab pos="4260215" algn="l"/>
                <a:tab pos="4356100" algn="l"/>
                <a:tab pos="5892165" algn="l"/>
                <a:tab pos="6190615" algn="l"/>
                <a:tab pos="7215505" algn="l"/>
                <a:tab pos="7720965" algn="l"/>
                <a:tab pos="7972425" algn="l"/>
                <a:tab pos="8364220" algn="l"/>
                <a:tab pos="9324975" algn="l"/>
              </a:tabLst>
            </a:pPr>
            <a:r>
              <a:rPr lang="en-US" sz="1200" dirty="0">
                <a:latin typeface="Times New Roman"/>
                <a:cs typeface="Times New Roman"/>
              </a:rPr>
              <a:t>[4] </a:t>
            </a:r>
            <a:r>
              <a:rPr lang="en-IN" sz="1200" dirty="0"/>
              <a:t>Lu, D., </a:t>
            </a:r>
            <a:r>
              <a:rPr lang="en-IN" sz="1200" dirty="0" err="1"/>
              <a:t>Popuri</a:t>
            </a:r>
            <a:r>
              <a:rPr lang="en-IN" sz="1200" dirty="0"/>
              <a:t>, K., Ding, G. W., Balachandar, R. &amp; Beg, M. F. "Multimodal Deep Learning for Alzheimer’s Disease Detection Using MRI and Genetic Data," in </a:t>
            </a:r>
            <a:r>
              <a:rPr lang="en-IN" sz="1200" i="1" dirty="0"/>
              <a:t>Proceedings of the IEEE International Conference on Bioinformatics and Biomedicine (BIBM)</a:t>
            </a:r>
            <a:r>
              <a:rPr lang="en-IN" sz="1200" dirty="0"/>
              <a:t>, pp. 1024–1031 (2022).</a:t>
            </a:r>
          </a:p>
          <a:p>
            <a:pPr marL="590550" marR="5080" indent="-577850">
              <a:lnSpc>
                <a:spcPts val="3020"/>
              </a:lnSpc>
              <a:spcBef>
                <a:spcPts val="480"/>
              </a:spcBef>
              <a:tabLst>
                <a:tab pos="3065145" algn="l"/>
                <a:tab pos="3639820" algn="l"/>
                <a:tab pos="4260215" algn="l"/>
                <a:tab pos="4356100" algn="l"/>
                <a:tab pos="5892165" algn="l"/>
                <a:tab pos="6190615" algn="l"/>
                <a:tab pos="7215505" algn="l"/>
                <a:tab pos="7720965" algn="l"/>
                <a:tab pos="7972425" algn="l"/>
                <a:tab pos="8364220" algn="l"/>
                <a:tab pos="9324975" algn="l"/>
              </a:tabLst>
            </a:pPr>
            <a:r>
              <a:rPr lang="en-US" sz="1200" dirty="0">
                <a:latin typeface="Times New Roman"/>
                <a:cs typeface="Times New Roman"/>
              </a:rPr>
              <a:t>[5] </a:t>
            </a:r>
            <a:r>
              <a:rPr lang="en-IN" sz="1200" dirty="0"/>
              <a:t>Venugopalan, J., Tong, L., Hassanzadeh, H. R. &amp; Wang, M. D. "Multimodal Deep Learning Models for Early Detection of Alzheimer’s Disease," </a:t>
            </a:r>
            <a:r>
              <a:rPr lang="en-IN" sz="1200" i="1" dirty="0"/>
              <a:t>Frontiers in Aging Neuroscience</a:t>
            </a:r>
            <a:r>
              <a:rPr lang="en-IN" sz="1200" dirty="0"/>
              <a:t>, vol. 13, Art. no. 636843 (2021).</a:t>
            </a:r>
          </a:p>
          <a:p>
            <a:pPr marL="590550" marR="5080" indent="-577850">
              <a:lnSpc>
                <a:spcPts val="3020"/>
              </a:lnSpc>
              <a:spcBef>
                <a:spcPts val="480"/>
              </a:spcBef>
              <a:tabLst>
                <a:tab pos="3065145" algn="l"/>
                <a:tab pos="3639820" algn="l"/>
                <a:tab pos="4260215" algn="l"/>
                <a:tab pos="4356100" algn="l"/>
                <a:tab pos="5892165" algn="l"/>
                <a:tab pos="6190615" algn="l"/>
                <a:tab pos="7215505" algn="l"/>
                <a:tab pos="7720965" algn="l"/>
                <a:tab pos="7972425" algn="l"/>
                <a:tab pos="8364220" algn="l"/>
                <a:tab pos="9324975" algn="l"/>
              </a:tabLst>
            </a:pPr>
            <a:r>
              <a:rPr lang="en-IN" sz="1200" dirty="0">
                <a:latin typeface="Times New Roman"/>
                <a:cs typeface="Times New Roman"/>
              </a:rPr>
              <a:t>[6] </a:t>
            </a:r>
            <a:r>
              <a:rPr lang="en-IN" sz="1200" dirty="0"/>
              <a:t>Ebrahimi, A., Luo, S. &amp; Chiong, R. "Convolutional Neural Networks for Alzheimer’s Disease Detection on MRI Images," </a:t>
            </a:r>
            <a:r>
              <a:rPr lang="en-IN" sz="1200" i="1" dirty="0"/>
              <a:t>Journal of Biomedical Science and Engineering</a:t>
            </a:r>
            <a:r>
              <a:rPr lang="en-IN" sz="1200" dirty="0"/>
              <a:t>, vol. 14, no. 2, pp. 15–28 (2021).</a:t>
            </a:r>
            <a:endParaRPr lang="en-IN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24200" y="0"/>
            <a:ext cx="5549546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Integrating MRI and Genetic Data for Flexible Alzheimer’s Disease</a:t>
            </a:r>
            <a:endParaRPr lang="en-GB" sz="1500" b="1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  <a:tab pos="5348605" algn="l"/>
                <a:tab pos="6511925" algn="l"/>
              </a:tabLst>
            </a:pPr>
            <a:r>
              <a:rPr dirty="0"/>
              <a:t>Git</a:t>
            </a:r>
            <a:r>
              <a:rPr spc="-75" dirty="0"/>
              <a:t> </a:t>
            </a:r>
            <a:r>
              <a:rPr spc="-25" dirty="0"/>
              <a:t>Hub</a:t>
            </a:r>
            <a:r>
              <a:rPr dirty="0"/>
              <a:t>	Dashboards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each</a:t>
            </a:r>
            <a:r>
              <a:rPr dirty="0"/>
              <a:t>	</a:t>
            </a:r>
            <a:r>
              <a:rPr spc="-10" dirty="0"/>
              <a:t>student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54637" y="6629427"/>
            <a:ext cx="85366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pc="-5" dirty="0"/>
              <a:t> </a:t>
            </a:r>
            <a:r>
              <a:rPr lang="en-IN" spc="-25" dirty="0"/>
              <a:t>B11</a:t>
            </a:r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43000" y="6629558"/>
            <a:ext cx="366141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lang="en-GB" cap="small" spc="-130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70346" y="6629197"/>
            <a:ext cx="386905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lang="en-GB"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466739" y="5774358"/>
            <a:ext cx="1011637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0" dirty="0" err="1">
                <a:latin typeface="Arial MT"/>
                <a:cs typeface="Arial MT"/>
              </a:rPr>
              <a:t>Github</a:t>
            </a:r>
            <a:r>
              <a:rPr lang="en-GB" sz="1800" spc="-10" dirty="0">
                <a:latin typeface="Arial MT"/>
                <a:cs typeface="Arial MT"/>
              </a:rPr>
              <a:t> Link : </a:t>
            </a:r>
            <a:r>
              <a:rPr lang="en-GB" sz="1800" u="sng" spc="-10" dirty="0">
                <a:latin typeface="Arial MT"/>
                <a:cs typeface="Arial MT"/>
              </a:rPr>
              <a:t>https://github.com/Sarfarazz24/CSE-2022-26-Batch-B11</a:t>
            </a:r>
            <a:endParaRPr sz="1800" u="sng" dirty="0">
              <a:latin typeface="Arial MT"/>
              <a:cs typeface="Arial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81739-CCCC-6822-FB0A-96239B387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938730"/>
            <a:ext cx="8368946" cy="45476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48000" y="0"/>
            <a:ext cx="5562599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Integrating MRI and Genetic Data for Flexible Alzheimer’s Disease</a:t>
            </a:r>
            <a:endParaRPr lang="en-GB" sz="1500" b="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54637" y="6629427"/>
            <a:ext cx="75976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B11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1198269" y="6629197"/>
            <a:ext cx="4155746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29400" y="6629197"/>
            <a:ext cx="386905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lang="en-GB" sz="1600" cap="small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5705" y="2352272"/>
            <a:ext cx="66922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Any</a:t>
            </a:r>
            <a:r>
              <a:rPr sz="9600" i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Queries?</a:t>
            </a:r>
            <a:endParaRPr sz="9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1070</TotalTime>
  <Words>1413</Words>
  <Application>Microsoft Office PowerPoint</Application>
  <PresentationFormat>Widescreen</PresentationFormat>
  <Paragraphs>190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MT</vt:lpstr>
      <vt:lpstr>Calibri</vt:lpstr>
      <vt:lpstr>Google Sans Text</vt:lpstr>
      <vt:lpstr>Times New Roman</vt:lpstr>
      <vt:lpstr>Office Theme</vt:lpstr>
      <vt:lpstr>Integrating MRI and genetic Data For Flexible Alzheimer’s Disease Diagnosis</vt:lpstr>
      <vt:lpstr>Contents</vt:lpstr>
      <vt:lpstr>Title Justification</vt:lpstr>
      <vt:lpstr>Abstract</vt:lpstr>
      <vt:lpstr>Problem Statement</vt:lpstr>
      <vt:lpstr>Objectives of Project</vt:lpstr>
      <vt:lpstr>PowerPoint Presentation</vt:lpstr>
      <vt:lpstr>Proposed System</vt:lpstr>
      <vt:lpstr>References</vt:lpstr>
      <vt:lpstr>Git Hub Dashboards of each student</vt:lpstr>
      <vt:lpstr>Any Queries?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REVIEW-0 TEMPLATE-new.pptx</dc:title>
  <dc:creator>user</dc:creator>
  <cp:lastModifiedBy>S Sarfaraz</cp:lastModifiedBy>
  <cp:revision>12</cp:revision>
  <dcterms:created xsi:type="dcterms:W3CDTF">2025-12-05T17:59:54Z</dcterms:created>
  <dcterms:modified xsi:type="dcterms:W3CDTF">2025-12-19T17:49:59Z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2025-12-05T00:00:00Z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2025-12-05T00:00:00Z</vt:filetime>
  </property>
</Properties>
</file>